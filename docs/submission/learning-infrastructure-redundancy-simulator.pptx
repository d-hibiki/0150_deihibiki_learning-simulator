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d85bc4c65d494f" /><Relationship Type="http://schemas.openxmlformats.org/officeDocument/2006/relationships/extended-properties" Target="/docProps/app.xml" Id="Rb460f1e09baa476c" /><Relationship Type="http://schemas.openxmlformats.org/officeDocument/2006/relationships/officeDocument" Target="/ppt/presentation.xml" Id="R700e402cb0824d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5056ab926e403e"/>
  </p:sldMasterIdLst>
  <p:notesMasterIdLst>
    <p:notesMasterId xmlns:r="http://schemas.openxmlformats.org/officeDocument/2006/relationships" r:id="R8b4079d1a44c4fda"/>
  </p:notesMasterIdLst>
  <p:sldIdLst>
    <p:sldId xmlns:r="http://schemas.openxmlformats.org/officeDocument/2006/relationships" id="256" r:id="R1f4a251ef2814fd7"/>
    <p:sldId xmlns:r="http://schemas.openxmlformats.org/officeDocument/2006/relationships" id="257" r:id="R7df7a082fc054a22"/>
    <p:sldId xmlns:r="http://schemas.openxmlformats.org/officeDocument/2006/relationships" id="258" r:id="R129e2e3f8b094fdc"/>
    <p:sldId xmlns:r="http://schemas.openxmlformats.org/officeDocument/2006/relationships" id="259" r:id="Rcdc98fe23b094275"/>
    <p:sldId xmlns:r="http://schemas.openxmlformats.org/officeDocument/2006/relationships" id="260" r:id="R0eeb315f654846cc"/>
    <p:sldId xmlns:r="http://schemas.openxmlformats.org/officeDocument/2006/relationships" id="261" r:id="R7c26dbb90ee8477e"/>
    <p:sldId xmlns:r="http://schemas.openxmlformats.org/officeDocument/2006/relationships" id="262" r:id="R660106e7a8d44858"/>
    <p:sldId xmlns:r="http://schemas.openxmlformats.org/officeDocument/2006/relationships" id="263" r:id="R9152b4e4a12d49ea"/>
    <p:sldId xmlns:r="http://schemas.openxmlformats.org/officeDocument/2006/relationships" id="264" r:id="Rbfb3556e7ca345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e3992e52d34b25" /><Relationship Type="http://schemas.openxmlformats.org/officeDocument/2006/relationships/slideMaster" Target="/ppt/slideMasters/slideMaster1.xml" Id="Rb25056ab926e403e" /><Relationship Type="http://schemas.openxmlformats.org/officeDocument/2006/relationships/notesMaster" Target="/ppt/notesMasters/notesMaster1.xml" Id="R8b4079d1a44c4fda" /><Relationship Type="http://schemas.openxmlformats.org/officeDocument/2006/relationships/presProps" Target="/ppt/presProps.xml" Id="Rcd94c8a62a34431d" /><Relationship Type="http://schemas.openxmlformats.org/officeDocument/2006/relationships/tableStyles" Target="/ppt/tableStyles.xml" Id="R8ecd4babbc524369" /><Relationship Type="http://schemas.openxmlformats.org/officeDocument/2006/relationships/slide" Target="/ppt/slides/slide1.xml" Id="R1f4a251ef2814fd7" /><Relationship Type="http://schemas.openxmlformats.org/officeDocument/2006/relationships/slide" Target="/ppt/slides/slide2.xml" Id="R7df7a082fc054a22" /><Relationship Type="http://schemas.openxmlformats.org/officeDocument/2006/relationships/slide" Target="/ppt/slides/slide3.xml" Id="R129e2e3f8b094fdc" /><Relationship Type="http://schemas.openxmlformats.org/officeDocument/2006/relationships/slide" Target="/ppt/slides/slide4.xml" Id="Rcdc98fe23b094275" /><Relationship Type="http://schemas.openxmlformats.org/officeDocument/2006/relationships/slide" Target="/ppt/slides/slide5.xml" Id="R0eeb315f654846cc" /><Relationship Type="http://schemas.openxmlformats.org/officeDocument/2006/relationships/slide" Target="/ppt/slides/slide6.xml" Id="R7c26dbb90ee8477e" /><Relationship Type="http://schemas.openxmlformats.org/officeDocument/2006/relationships/slide" Target="/ppt/slides/slide7.xml" Id="R660106e7a8d44858" /><Relationship Type="http://schemas.openxmlformats.org/officeDocument/2006/relationships/slide" Target="/ppt/slides/slide8.xml" Id="R9152b4e4a12d49ea" /><Relationship Type="http://schemas.openxmlformats.org/officeDocument/2006/relationships/slide" Target="/ppt/slides/slide9.xml" Id="Rbfb3556e7ca345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d3f3aba2644b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d64c867186482e" /><Relationship Type="http://schemas.openxmlformats.org/officeDocument/2006/relationships/notesMaster" Target="/ppt/notesMasters/notesMaster1.xml" Id="Rd2bb2926ce444a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2934e0545748f0" /><Relationship Type="http://schemas.openxmlformats.org/officeDocument/2006/relationships/notesMaster" Target="/ppt/notesMasters/notesMaster1.xml" Id="R95a648445b2d4e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131b0f246d4e29" /><Relationship Type="http://schemas.openxmlformats.org/officeDocument/2006/relationships/notesMaster" Target="/ppt/notesMasters/notesMaster1.xml" Id="Ree813701c3ce4b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775bf43be642e3" /><Relationship Type="http://schemas.openxmlformats.org/officeDocument/2006/relationships/notesMaster" Target="/ppt/notesMasters/notesMaster1.xml" Id="R4a5c7696bf3344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389fc745af4c79" /><Relationship Type="http://schemas.openxmlformats.org/officeDocument/2006/relationships/notesMaster" Target="/ppt/notesMasters/notesMaster1.xml" Id="R4b141e378b7d46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fafa8a49304cfb" /><Relationship Type="http://schemas.openxmlformats.org/officeDocument/2006/relationships/notesMaster" Target="/ppt/notesMasters/notesMaster1.xml" Id="R37b2da67545541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848f5182054068" /><Relationship Type="http://schemas.openxmlformats.org/officeDocument/2006/relationships/notesMaster" Target="/ppt/notesMasters/notesMaster1.xml" Id="R384175e9c2bc4c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f19b7f708d4e47" /><Relationship Type="http://schemas.openxmlformats.org/officeDocument/2006/relationships/notesMaster" Target="/ppt/notesMasters/notesMaster1.xml" Id="R6b813ab657cc45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2a22315b9c4e66" /><Relationship Type="http://schemas.openxmlformats.org/officeDocument/2006/relationships/notesMaster" Target="/ppt/notesMasters/notesMaster1.xml" Id="R5101bd46571a40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docs/METHODOLOGY.md</a:t>
            </a:r>
          </a:p>
          <a:p xmlns:a="http://schemas.openxmlformats.org/drawingml/2006/main">
            <a:r>
              <a:t>- docs/agent-world-odd.md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RESULTS.md</a:t>
            </a:r>
          </a:p>
          <a:p xmlns:a="http://schemas.openxmlformats.org/drawingml/2006/main">
            <a:r>
              <a:t>- docs/METHODOLOGY.md</a:t>
            </a:r>
          </a:p>
          <a:p xmlns:a="http://schemas.openxmlformats.org/drawingml/2006/main">
            <a:r>
              <a:t>- src/simulation/trial.ts</a:t>
            </a:r>
          </a:p>
          <a:p xmlns:a="http://schemas.openxmlformats.org/drawingml/2006/main">
            <a:r>
              <a:t>- Model v1 local run artifact, commit 4098a43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RESULTS.md</a:t>
            </a:r>
          </a:p>
          <a:p xmlns:a="http://schemas.openxmlformats.org/drawingml/2006/main">
            <a:r>
              <a:t>- Model v1 local run artifact, commit 4098a43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RESULTS.md</a:t>
            </a:r>
          </a:p>
          <a:p xmlns:a="http://schemas.openxmlformats.org/drawingml/2006/main">
            <a:r>
              <a:t>- docs/METHODOLOGY.md</a:t>
            </a:r>
          </a:p>
          <a:p xmlns:a="http://schemas.openxmlformats.org/drawingml/2006/main">
            <a:r>
              <a:t>- Model v1 local run artifact, commit 4098a43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docs/agent-world-odd.md</a:t>
            </a:r>
          </a:p>
          <a:p xmlns:a="http://schemas.openxmlformats.org/drawingml/2006/main">
            <a:r>
              <a:t>- docs/METHODOLOGY.md</a:t>
            </a:r>
          </a:p>
          <a:p xmlns:a="http://schemas.openxmlformats.org/drawingml/2006/main">
            <a:r>
              <a:t>- src/agent-world/metrics.ts</a:t>
            </a:r>
          </a:p>
          <a:p xmlns:a="http://schemas.openxmlformats.org/drawingml/2006/main">
            <a:r>
              <a:t>- Agent World local exploratory run artifact,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RESULTS.md</a:t>
            </a:r>
          </a:p>
          <a:p xmlns:a="http://schemas.openxmlformats.org/drawingml/2006/main">
            <a:r>
              <a:t>- Agent World local exploratory run artifact, 2026-08-17</a:t>
            </a:r>
          </a:p>
          <a:p xmlns:a="http://schemas.openxmlformats.org/drawingml/2006/main">
            <a:r>
              <a:t>- docs/agent-world-odd.md</a:t>
            </a:r>
          </a:p>
          <a:p xmlns:a="http://schemas.openxmlformats.org/drawingml/2006/main">
            <a:r>
              <a:t>- src/agent-world/metrics.ts</a:t>
            </a:r>
          </a:p>
          <a:p xmlns:a="http://schemas.openxmlformats.org/drawingml/2006/main">
            <a:r>
              <a:t>- Current implementation merge commit 29b842a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RESULTS.md</a:t>
            </a:r>
          </a:p>
          <a:p xmlns:a="http://schemas.openxmlformats.org/drawingml/2006/main">
            <a:r>
              <a:t>- OPERATIONS.md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docs/agent-world-odd.md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f93f021fd46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bed1cd2f7d45fb" /><Relationship Type="http://schemas.openxmlformats.org/officeDocument/2006/relationships/slideLayout" Target="/ppt/slideLayouts/slideLayout1.xml" Id="R4aeec7f4399e4c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eec7f4399e4c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ae044b0d74693" /><Relationship Type="http://schemas.openxmlformats.org/officeDocument/2006/relationships/notesSlide" Target="/ppt/notesSlides/notesSlide1.xml" Id="R14a3596ae84841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3970a083b49cb" /><Relationship Type="http://schemas.openxmlformats.org/officeDocument/2006/relationships/notesSlide" Target="/ppt/notesSlides/notesSlide2.xml" Id="R901aafe552ca43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471b03ff34696" /><Relationship Type="http://schemas.openxmlformats.org/officeDocument/2006/relationships/notesSlide" Target="/ppt/notesSlides/notesSlide3.xml" Id="R4ea547f3660d45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5971e00354d34" /><Relationship Type="http://schemas.openxmlformats.org/officeDocument/2006/relationships/notesSlide" Target="/ppt/notesSlides/notesSlide4.xml" Id="Rc07ea7054eb646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c0ad8da644e67" /><Relationship Type="http://schemas.openxmlformats.org/officeDocument/2006/relationships/notesSlide" Target="/ppt/notesSlides/notesSlide5.xml" Id="Rf9210345bcae4f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55729ceef45f0" /><Relationship Type="http://schemas.openxmlformats.org/officeDocument/2006/relationships/notesSlide" Target="/ppt/notesSlides/notesSlide6.xml" Id="Rad09dcb2bdf148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a7ee489d24ee7" /><Relationship Type="http://schemas.openxmlformats.org/officeDocument/2006/relationships/notesSlide" Target="/ppt/notesSlides/notesSlide7.xml" Id="R3a40c83b6d9e4f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e4857136b46f2" /><Relationship Type="http://schemas.openxmlformats.org/officeDocument/2006/relationships/notesSlide" Target="/ppt/notesSlides/notesSlide8.xml" Id="R8fcc72b3599b46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2aff76ef040b1" /><Relationship Type="http://schemas.openxmlformats.org/officeDocument/2006/relationships/notesSlide" Target="/ppt/notesSlides/notesSlide9.xml" Id="R03c0c84f892f48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F30BF-D391-4130-9A97-3487CE78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478DB-C888-4ED8-8252-51692B42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SUBMISSION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85F95-FCCE-4412-A598-0AB4125A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04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216"/>
                </a:solidFill>
              </a:defRPr>
            </a:pPr>
            <a:r>
              <a:rPr sz="4200" b="1">
                <a:solidFill>
                  <a:srgbClr val="101216"/>
                </a:solidFill>
              </a:rPr>
              <a:t>学習インフラ</a:t>
            </a:r>
          </a:p>
          <a:p xmlns:a="http://schemas.openxmlformats.org/drawingml/2006/main">
            <a:pPr algn="l">
              <a:defRPr sz="4200" b="1">
                <a:solidFill>
                  <a:srgbClr val="101216"/>
                </a:solidFill>
              </a:defRPr>
            </a:pPr>
            <a:r>
              <a:rPr sz="4200" b="1">
                <a:solidFill>
                  <a:srgbClr val="101216"/>
                </a:solidFill>
              </a:rPr>
              <a:t>冗長性シミュレーター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026DB-11CA-4DB4-9922-BE630EB3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673"/>
                </a:solidFill>
              </a:defRPr>
            </a:pPr>
            <a:r>
              <a:rPr sz="1875" b="0">
                <a:solidFill>
                  <a:srgbClr val="5E6673"/>
                </a:solidFill>
              </a:rPr>
              <a:t>数式による条件比較から、LLM市民の創発検証へ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9C8A6-4A7B-428F-A7C9-03968FBC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800100"/>
            <a:ext cx="3238500" cy="45148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65BE3-E204-493D-A203-F1161B9C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66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E6673"/>
                </a:solidFill>
              </a:defRPr>
            </a:pPr>
            <a:r>
              <a:rPr sz="1425" b="1">
                <a:solidFill>
                  <a:srgbClr val="5E6673"/>
                </a:solidFill>
              </a:rPr>
              <a:t>2つの証拠層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86A5E-8C48-47A2-8125-8AC54CFD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859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FF"/>
                </a:solidFill>
              </a:defRPr>
            </a:pPr>
            <a:r>
              <a:rPr sz="2250" b="1">
                <a:solidFill>
                  <a:srgbClr val="2F6BFF"/>
                </a:solidFill>
              </a:rPr>
              <a:t>Model 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A4393-7001-4CF3-9A8D-47CEC5D3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24075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</a:defRPr>
            </a:pPr>
            <a:r>
              <a:rPr sz="1500" b="0">
                <a:solidFill>
                  <a:srgbClr val="101216"/>
                </a:solidFill>
              </a:rPr>
              <a:t>紙・電子・併用を</a:t>
            </a:r>
          </a:p>
          <a:p xmlns:a="http://schemas.openxmlformats.org/drawingml/2006/main">
            <a:pPr algn="l">
              <a:defRPr sz="1500" b="0">
                <a:solidFill>
                  <a:srgbClr val="101216"/>
                </a:solidFill>
              </a:defRPr>
            </a:pPr>
            <a:r>
              <a:rPr sz="1500" b="0">
                <a:solidFill>
                  <a:srgbClr val="101216"/>
                </a:solidFill>
              </a:rPr>
              <a:t>同一集団で比較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C22D9-9CCF-414D-B43C-D5EDA07A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575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8959C-9844-4F5A-B6AF-0859F1A6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90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A887"/>
                </a:solidFill>
              </a:defRPr>
            </a:pPr>
            <a:r>
              <a:rPr sz="2250" b="1">
                <a:solidFill>
                  <a:srgbClr val="18A887"/>
                </a:solidFill>
              </a:rPr>
              <a:t>Agent World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CF8AB-1693-4401-9288-0D8268C8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</a:defRPr>
            </a:pPr>
            <a:r>
              <a:rPr sz="1500" b="0">
                <a:solidFill>
                  <a:srgbClr val="101216"/>
                </a:solidFill>
              </a:rPr>
              <a:t>ローカルOllamaで</a:t>
            </a:r>
          </a:p>
          <a:p xmlns:a="http://schemas.openxmlformats.org/drawingml/2006/main">
            <a:pPr algn="l">
              <a:defRPr sz="1500" b="0">
                <a:solidFill>
                  <a:srgbClr val="101216"/>
                </a:solidFill>
              </a:defRPr>
            </a:pPr>
            <a:r>
              <a:rPr sz="1500" b="0">
                <a:solidFill>
                  <a:srgbClr val="101216"/>
                </a:solidFill>
              </a:rPr>
              <a:t>LLM市民を対照実験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CA57B-56B9-47A5-9EE6-BE1713D4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70294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48A43-4D46-43B4-8C3B-88DAE513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合成モデル内の結果です。現実の教育効果や将来を予測するものではありません。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94E85-6158-4521-876C-AB5FCC3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</a:defRPr>
            </a:pPr>
            <a:r>
              <a:rPr sz="1125" b="0">
                <a:solidFill>
                  <a:srgbClr val="5E6673"/>
                </a:solidFill>
              </a:rPr>
              <a:t>GitHub提出版</a:t>
            </a:r>
          </a:p>
        </p:txBody>
      </p:sp>
    </p:spTree>
    <p:extLst>
      <p:ext uri="{BB962C8B-B14F-4D97-AF65-F5344CB8AC3E}">
        <p14:creationId xmlns:p14="http://schemas.microsoft.com/office/powerpoint/2010/main" val="77894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1DD8CF-B926-4B9D-B1F2-2B3ABAA7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91862-A88F-4226-91BE-9A85E120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</a:defRPr>
            </a:pPr>
            <a:r>
              <a:rPr sz="2850" b="1">
                <a:solidFill>
                  <a:srgbClr val="101216"/>
                </a:solidFill>
              </a:rPr>
              <a:t>問い：冗長性は、どの条件で意味を持つのか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A5A5B-510E-4D11-8D18-4730421F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8D29C-0CA2-4C03-8AFF-C90B31DA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9C923-F7C3-432E-8FDE-0D57154A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</a:defRPr>
            </a:pPr>
            <a:r>
              <a:rPr sz="2550" b="1">
                <a:solidFill>
                  <a:srgbClr val="101216"/>
                </a:solidFill>
              </a:rPr>
              <a:t>一方を残すだけで十分なのか。</a:t>
            </a:r>
          </a:p>
          <a:p xmlns:a="http://schemas.openxmlformats.org/drawingml/2006/main">
            <a:pPr algn="l">
              <a:defRPr sz="2550" b="1">
                <a:solidFill>
                  <a:srgbClr val="101216"/>
                </a:solidFill>
              </a:defRPr>
            </a:pPr>
            <a:r>
              <a:rPr sz="2550" b="1">
                <a:solidFill>
                  <a:srgbClr val="101216"/>
                </a:solidFill>
              </a:rPr>
              <a:t>それとも、異なる学習手段の併存に価値があるのか。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63B48-B35E-4353-8610-0D0D8E6F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14700"/>
            <a:ext cx="33909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0C7DC-D57F-4B9B-9054-22179139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552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80D23-2C80-412C-ABD2-3AF5034A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28E61-3C59-4CD5-A7B1-FBC6BC68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6"/>
                </a:solidFill>
              </a:defRPr>
            </a:pPr>
            <a:r>
              <a:rPr sz="1950" b="1">
                <a:solidFill>
                  <a:srgbClr val="101216"/>
                </a:solidFill>
              </a:rPr>
              <a:t>障害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5AF7F-682E-4795-9F56-C20F70EE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停電・通信障害でも</a:t>
            </a:r>
          </a:p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学習を継続できるか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EB7AB-2B81-42DB-9E1A-34FDC737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14700"/>
            <a:ext cx="33909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24602-D5D0-433E-A5C9-CB16CAB6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552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5DA45-B837-4DB5-A4A0-1BA6E43E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623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35A2E-DE41-4C2A-954B-4FD7B394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0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6"/>
                </a:solidFill>
              </a:defRPr>
            </a:pPr>
            <a:r>
              <a:rPr sz="1950" b="1">
                <a:solidFill>
                  <a:srgbClr val="101216"/>
                </a:solidFill>
              </a:rPr>
              <a:t>劣化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F9533-D69C-4218-B768-FD8BB4CC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148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教材鮮度や利用可能率が</a:t>
            </a:r>
          </a:p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落ちたとき何が残るか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DCFDE-6C1A-4625-ACEC-1A28DFB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14700"/>
            <a:ext cx="33909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E20ED-D38B-457D-9B86-23107DE6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552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31B1D-ABFB-4FCB-AA3B-EFEDA094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A887"/>
                </a:solidFill>
              </a:defRPr>
            </a:pPr>
            <a:r>
              <a:rPr sz="1125" b="1">
                <a:solidFill>
                  <a:srgbClr val="18A887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E24C4-FBCD-47B6-8ABB-0B89E321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0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6"/>
                </a:solidFill>
              </a:defRPr>
            </a:pPr>
            <a:r>
              <a:rPr sz="1950" b="1">
                <a:solidFill>
                  <a:srgbClr val="101216"/>
                </a:solidFill>
              </a:rPr>
              <a:t>相互作用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0C0AA-645F-473E-A4D9-F8185128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LLM市民の情報交換から</a:t>
            </a:r>
          </a:p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集団パターンが生じるか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F65054-F953-448C-B09D-FEEEF8A6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</a:defRPr>
            </a:pPr>
            <a:r>
              <a:rPr sz="900" b="0">
                <a:solidFill>
                  <a:srgbClr val="5E6673"/>
                </a:solidFill>
              </a:rPr>
              <a:t>学習インフラ冗長性シミュレーター</a:t>
            </a:r>
          </a:p>
        </p:txBody>
      </p:sp>
    </p:spTree>
    <p:extLst>
      <p:ext uri="{BB962C8B-B14F-4D97-AF65-F5344CB8AC3E}">
        <p14:creationId xmlns:p14="http://schemas.microsoft.com/office/powerpoint/2010/main" val="2009859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8CC265-6A1E-4364-9F0F-2601F52E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A5CD5-9567-41C7-85FF-0F9C6D83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</a:defRPr>
            </a:pPr>
            <a:r>
              <a:rPr sz="2850" b="1">
                <a:solidFill>
                  <a:srgbClr val="101216"/>
                </a:solidFill>
              </a:rPr>
              <a:t>2つのモデルを、別々の証拠として扱う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CD18A-0225-43E4-A6AD-F9A5075D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C3860-5C20-4F0F-B159-63C64F74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F1A1E-C955-461D-8B34-B77E9E3A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5219700" cy="3981450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E7F71-7C48-459B-AFD4-F210A454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3A879-6BE6-4BE2-BA45-607909CB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MODEL 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0D236-110C-4400-A099-005AA4AB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</a:defRPr>
            </a:pPr>
            <a:r>
              <a:rPr sz="2100" b="1">
                <a:solidFill>
                  <a:srgbClr val="101216"/>
                </a:solidFill>
              </a:rPr>
              <a:t>固定数式 × Monte Carlo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DC5E9-3D29-41E8-BE55-83D7BB4D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D3445-4220-40A9-9304-AD7AB955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</a:defRPr>
            </a:pPr>
            <a:r>
              <a:rPr sz="1350" b="0">
                <a:solidFill>
                  <a:srgbClr val="101216"/>
                </a:solidFill>
              </a:rPr>
              <a:t>ブラウザー／Sitesで実行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83302-5120-4A85-91D6-B00BBB6F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2DBE7-F430-4B42-892B-25B32034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</a:defRPr>
            </a:pPr>
            <a:r>
              <a:rPr sz="1350" b="0">
                <a:solidFill>
                  <a:srgbClr val="101216"/>
                </a:solidFill>
              </a:rPr>
              <a:t>同一Seed・同一集団で方式比較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83D7B-2C82-4E24-B5E0-656290A6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C7184-F1E8-4F58-BCDF-956F7BC8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</a:defRPr>
            </a:pPr>
            <a:r>
              <a:rPr sz="1350" b="0">
                <a:solidFill>
                  <a:srgbClr val="101216"/>
                </a:solidFill>
              </a:rPr>
              <a:t>感度・分布・下位層を確認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8BC95-6F15-4896-A9C0-9649CC26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出力：到達率・差・試行分布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D9E17-FB56-4694-AEF7-04D1F021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5219700" cy="3981450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7649A-E135-47A8-96FF-331F7F5A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1581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BDF3DF-754A-4AFF-82EF-9A5DFBB5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05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A887"/>
                </a:solidFill>
              </a:defRPr>
            </a:pPr>
            <a:r>
              <a:rPr sz="1125" b="1">
                <a:solidFill>
                  <a:srgbClr val="18A887"/>
                </a:solidFill>
              </a:rPr>
              <a:t>AGENT WORLD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E6544-2D60-4C32-97A6-B71ED61F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</a:defRPr>
            </a:pPr>
            <a:r>
              <a:rPr sz="2100" b="1">
                <a:solidFill>
                  <a:srgbClr val="101216"/>
                </a:solidFill>
              </a:rPr>
              <a:t>LLM市民 × 対照実験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A49EB-F9E5-49D4-86A1-E2F95139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8E855-B4FF-4F67-A647-811AA4EA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99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</a:defRPr>
            </a:pPr>
            <a:r>
              <a:rPr sz="1350" b="0">
                <a:solidFill>
                  <a:srgbClr val="101216"/>
                </a:solidFill>
              </a:rPr>
              <a:t>OllamaをローカルPCだけで利用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B6C32-C178-4FEE-ABD5-DA4FAA2F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982F5-6534-428D-9647-D5F82ED8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</a:defRPr>
            </a:pPr>
            <a:r>
              <a:rPr sz="1350" b="0">
                <a:solidFill>
                  <a:srgbClr val="101216"/>
                </a:solidFill>
              </a:rPr>
              <a:t>相互作用・memory・ruleを比較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55FB8-62E5-4A59-9674-0C289169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D02E5-C0B1-4356-A4DF-9B80254A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14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</a:defRPr>
            </a:pPr>
            <a:r>
              <a:rPr sz="1350" b="0">
                <a:solidFill>
                  <a:srgbClr val="101216"/>
                </a:solidFill>
              </a:rPr>
              <a:t>事前定義したrun-level指標で判定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7D696A-50B9-48C6-A4B7-CDF7DAF3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A887"/>
                </a:solidFill>
              </a:defRPr>
            </a:pPr>
            <a:r>
              <a:rPr sz="1275" b="1">
                <a:solidFill>
                  <a:srgbClr val="18A887"/>
                </a:solidFill>
              </a:rPr>
              <a:t>出力：行動推移・cascade判定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97A7C5-FA1D-47A4-B8A8-8DF4F38E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29300"/>
            <a:ext cx="6477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910D12-415D-4F2D-B0ED-CC9D9A2F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895975"/>
            <a:ext cx="605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216"/>
                </a:solidFill>
              </a:defRPr>
            </a:pPr>
            <a:r>
              <a:rPr sz="1275" b="1">
                <a:solidFill>
                  <a:srgbClr val="101216"/>
                </a:solidFill>
              </a:rPr>
              <a:t>目的・schema・妥当性が異なるため、両モデルの数値は統合しない</a:t>
            </a:r>
          </a:p>
        </p:txBody>
      </p:sp>
    </p:spTree>
    <p:extLst>
      <p:ext uri="{BB962C8B-B14F-4D97-AF65-F5344CB8AC3E}">
        <p14:creationId xmlns:p14="http://schemas.microsoft.com/office/powerpoint/2010/main" val="1733015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C28D2B-8B00-40D5-BC86-61C5930C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MODEL V1 /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4BD6D-B134-4C12-8D7E-7A67564F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</a:defRPr>
            </a:pPr>
            <a:r>
              <a:rPr sz="2850" b="1">
                <a:solidFill>
                  <a:srgbClr val="101216"/>
                </a:solidFill>
              </a:rPr>
              <a:t>平常時、併用は到達率を31.0ポイント押し上げた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53430-B4DE-417E-BF21-2A27D361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1122C-8CBD-4194-B5E7-0BEA16D1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EA16D-0F65-499A-9C4E-36304ADB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239000" cy="3829050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3095A-C249-4B25-91EB-252389CD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E6673"/>
                </a:solidFill>
              </a:defRPr>
            </a:pPr>
            <a:r>
              <a:rPr sz="1425" b="1">
                <a:solidFill>
                  <a:srgbClr val="5E6673"/>
                </a:solidFill>
              </a:rPr>
              <a:t>平均到達率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85B56-F67B-42F6-A40B-EE39B5B0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</a:defRPr>
            </a:pPr>
            <a:r>
              <a:rPr sz="1275" b="1">
                <a:solidFill>
                  <a:srgbClr val="101216"/>
                </a:solidFill>
              </a:rPr>
              <a:t>紙のみ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91CDF-11FF-47B5-9C10-F97E3766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9555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81AD6-F1B5-46E1-8530-B505652A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95550"/>
            <a:ext cx="186880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E0FD3-FDBE-4F83-864D-EB02FDD0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479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54.5%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3A793-6042-4DEE-A317-A869859A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</a:defRPr>
            </a:pPr>
            <a:r>
              <a:rPr sz="1275" b="1">
                <a:solidFill>
                  <a:srgbClr val="101216"/>
                </a:solidFill>
              </a:rPr>
              <a:t>電子のみ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30883-DE07-4F6B-A06C-66B11F83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0040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6AA5D-0037-4320-B0BA-EFDE9F1C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00400"/>
            <a:ext cx="186880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3E9A7-097E-42F5-B704-ACEACB5A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527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54.5%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C7A0B-265D-458E-B7A2-F3DF57AC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</a:defRPr>
            </a:pPr>
            <a:r>
              <a:rPr sz="1275" b="1">
                <a:solidFill>
                  <a:srgbClr val="101216"/>
                </a:solidFill>
              </a:rPr>
              <a:t>紙＋電子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0F9AB-13F2-4C75-A68E-60B1FC07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0525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10227-64D4-418F-943C-BE242B5E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05250"/>
            <a:ext cx="293179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D6854-8973-4480-AEA2-E458342F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576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8A887"/>
                </a:solidFill>
              </a:defRPr>
            </a:pPr>
            <a:r>
              <a:rPr sz="1350" b="1">
                <a:solidFill>
                  <a:srgbClr val="18A887"/>
                </a:solidFill>
              </a:rPr>
              <a:t>85.5%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A610F-9099-4E96-A340-46B7F4B4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77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4ED57-EF91-43ED-A147-983C3BA7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577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4F311-DB93-4ED2-B6F3-BF95BC93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57350"/>
            <a:ext cx="363855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AF79A-756F-4AF8-BE18-7DC849E9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F6BFF"/>
                </a:solidFill>
              </a:defRPr>
            </a:pPr>
            <a:r>
              <a:rPr sz="3450" b="1">
                <a:solidFill>
                  <a:srgbClr val="2F6BFF"/>
                </a:solidFill>
              </a:rPr>
              <a:t>+31.0pt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D0EFD-165F-415E-8387-4B48BCAC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14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673"/>
                </a:solidFill>
              </a:defRPr>
            </a:pPr>
            <a:r>
              <a:rPr sz="1275" b="1">
                <a:solidFill>
                  <a:srgbClr val="5E6673"/>
                </a:solidFill>
              </a:rPr>
              <a:t>最高単独方式との差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7268D9-0533-4FA6-87A5-75116826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3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</a:defRPr>
            </a:pPr>
            <a:r>
              <a:rPr sz="1350" b="0">
                <a:solidFill>
                  <a:srgbClr val="101216"/>
                </a:solidFill>
              </a:rPr>
              <a:t>100人 × 1,000反復</a:t>
            </a:r>
          </a:p>
          <a:p xmlns:a="http://schemas.openxmlformats.org/drawingml/2006/main">
            <a:pPr algn="l">
              <a:defRPr sz="1350" b="0">
                <a:solidFill>
                  <a:srgbClr val="101216"/>
                </a:solidFill>
              </a:defRPr>
            </a:pPr>
            <a:r>
              <a:rPr sz="1350" b="0">
                <a:solidFill>
                  <a:srgbClr val="101216"/>
                </a:solidFill>
              </a:rPr>
              <a:t>Seed 12345 / 閾値 0.50</a:t>
            </a:r>
          </a:p>
          <a:p xmlns:a="http://schemas.openxmlformats.org/drawingml/2006/main">
            <a:pPr algn="l">
              <a:defRPr sz="1350" b="0">
                <a:solidFill>
                  <a:srgbClr val="101216"/>
                </a:solidFill>
              </a:defRPr>
            </a:pPr>
            <a:r>
              <a:rPr sz="1350" b="0">
                <a:solidFill>
                  <a:srgbClr val="101216"/>
                </a:solidFill>
              </a:rPr>
              <a:t>構成 33 / 33 / 34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6C95E-55E1-41D4-95C6-44AAA671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36385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6CEC27-85ED-4EE3-906A-E265FECA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57750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5214"/>
                </a:solidFill>
              </a:defRPr>
            </a:pPr>
            <a:r>
              <a:rPr sz="1200" b="1">
                <a:solidFill>
                  <a:srgbClr val="7A5214"/>
                </a:solidFill>
              </a:rPr>
              <a:t>併用は max(紙, 電子)。</a:t>
            </a:r>
          </a:p>
          <a:p xmlns:a="http://schemas.openxmlformats.org/drawingml/2006/main">
            <a:pPr algn="l">
              <a:defRPr sz="1200" b="1">
                <a:solidFill>
                  <a:srgbClr val="7A5214"/>
                </a:solidFill>
              </a:defRPr>
            </a:pPr>
            <a:r>
              <a:rPr sz="1200" b="1">
                <a:solidFill>
                  <a:srgbClr val="7A5214"/>
                </a:solidFill>
              </a:rPr>
              <a:t>弱い優越はモデル構造上の性質。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FEC85C-269A-4A44-ABFF-6CFA3DB0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</a:defRPr>
            </a:pPr>
            <a:r>
              <a:rPr sz="900" b="0">
                <a:solidFill>
                  <a:srgbClr val="5E6673"/>
                </a:solidFill>
              </a:rPr>
              <a:t>学習インフラ冗長性シミュレーター</a:t>
            </a:r>
          </a:p>
        </p:txBody>
      </p:sp>
    </p:spTree>
    <p:extLst>
      <p:ext uri="{BB962C8B-B14F-4D97-AF65-F5344CB8AC3E}">
        <p14:creationId xmlns:p14="http://schemas.microsoft.com/office/powerpoint/2010/main" val="1799421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3FDA7E-44AD-42DD-8E5F-312558C1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MODEL V1 / SENSITIVITY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F8241-D05D-40B7-9DE3-B6E678A7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</a:defRPr>
            </a:pPr>
            <a:r>
              <a:rPr sz="2850" b="1">
                <a:solidFill>
                  <a:srgbClr val="101216"/>
                </a:solidFill>
              </a:rPr>
              <a:t>冗長性の効果は、代替経路が機能する範囲で現れる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1EDD5-4168-42A5-A195-A814B840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63616-567E-432D-8687-EAF86EDB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DDF9B-63E9-4CD7-81EA-4E9F8F88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048500" cy="38862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DAEAF-C9FC-4AAD-85A6-F900BED3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216"/>
                </a:solidFill>
              </a:defRPr>
            </a:pPr>
            <a:r>
              <a:rPr sz="1575" b="1">
                <a:solidFill>
                  <a:srgbClr val="101216"/>
                </a:solidFill>
              </a:rPr>
              <a:t>電子利用可能率と到達率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108DF-BDE5-4107-91F0-C6046973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586E8-8059-4EC4-A62C-ADA3E8CD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</a:defRPr>
            </a:pPr>
            <a:r>
              <a:rPr sz="1275" b="1">
                <a:solidFill>
                  <a:srgbClr val="101216"/>
                </a:solidFill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74237-E91C-4109-9D5E-4F6FA4B6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381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</a:defRPr>
            </a:pPr>
            <a:r>
              <a:rPr sz="1200" b="0">
                <a:solidFill>
                  <a:srgbClr val="5E6673"/>
                </a:solidFill>
              </a:rPr>
              <a:t>電子 54.5%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B1ACF-8221-4D11-AD6D-0B6BA500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併用 85.5%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24B3C-6B24-4914-9E90-2981E835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+31.0pt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61FEA-2590-4C05-9311-C38B22B8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</a:defRPr>
            </a:pPr>
            <a:r>
              <a:rPr sz="1275" b="1">
                <a:solidFill>
                  <a:srgbClr val="101216"/>
                </a:solidFill>
              </a:rPr>
              <a:t>80%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08811-B875-484C-BCDE-10813FD2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146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</a:defRPr>
            </a:pPr>
            <a:r>
              <a:rPr sz="1200" b="0">
                <a:solidFill>
                  <a:srgbClr val="5E6673"/>
                </a:solidFill>
              </a:rPr>
              <a:t>電子 34.6%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44887-2232-43CF-A38A-8AAFE514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併用 74.4%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E7B87-F839-468D-B254-FE9F3642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14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+19.9pt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6D883-FA95-4A13-9D5E-F0EFAB77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666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85ECA-9327-4F54-9877-1353A9CB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</a:defRPr>
            </a:pPr>
            <a:r>
              <a:rPr sz="1275" b="1">
                <a:solidFill>
                  <a:srgbClr val="101216"/>
                </a:solidFill>
              </a:rPr>
              <a:t>50%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E7B10-9498-440E-BD64-15CC04D0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48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</a:defRPr>
            </a:pPr>
            <a:r>
              <a:rPr sz="1200" b="0">
                <a:solidFill>
                  <a:srgbClr val="5E6673"/>
                </a:solidFill>
              </a:rPr>
              <a:t>電子 0.0%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03BEB-A34B-48FC-8117-92221147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480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併用 54.5%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077F2-9986-49D3-9188-90F60657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480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6673"/>
                </a:solidFill>
              </a:defRPr>
            </a:pPr>
            <a:r>
              <a:rPr sz="1275" b="1">
                <a:solidFill>
                  <a:srgbClr val="5E6673"/>
                </a:solidFill>
              </a:rPr>
              <a:t>0.0pt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10571-F0AD-43BE-8AC6-4D367EB1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</a:defRPr>
            </a:pPr>
            <a:r>
              <a:rPr sz="1275" b="1">
                <a:solidFill>
                  <a:srgbClr val="101216"/>
                </a:solidFill>
              </a:rPr>
              <a:t>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A3D37-92F5-457C-A702-E575AF5D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814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</a:defRPr>
            </a:pPr>
            <a:r>
              <a:rPr sz="1200" b="0">
                <a:solidFill>
                  <a:srgbClr val="5E6673"/>
                </a:solidFill>
              </a:rPr>
              <a:t>電子 0.0%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910A8-CD02-4AC9-85CD-53A02E0C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81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併用 54.5%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6DE4C7-A38E-4754-A80C-51442615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814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6673"/>
                </a:solidFill>
              </a:defRPr>
            </a:pPr>
            <a:r>
              <a:rPr sz="1275" b="1">
                <a:solidFill>
                  <a:srgbClr val="5E6673"/>
                </a:solidFill>
              </a:rPr>
              <a:t>0.0pt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E91DF5-642C-434C-BE92-B0C66955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666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E69637-2E73-4966-87ED-9987BB1B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</a:defRPr>
            </a:pPr>
            <a:r>
              <a:rPr sz="1275" b="1">
                <a:solidFill>
                  <a:srgbClr val="101216"/>
                </a:solidFill>
              </a:rP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300635-56E1-4BDC-BC2B-8A7CB199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14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</a:defRPr>
            </a:pPr>
            <a:r>
              <a:rPr sz="1200" b="0">
                <a:solidFill>
                  <a:srgbClr val="5E6673"/>
                </a:solidFill>
              </a:rPr>
              <a:t>電子 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3F846F-4C3A-40C6-94FB-9514376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併用 54.5%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3F2A1C-BD5C-4BFB-B4E0-DF9337B2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6673"/>
                </a:solidFill>
              </a:defRPr>
            </a:pPr>
            <a:r>
              <a:rPr sz="1275" b="1">
                <a:solidFill>
                  <a:srgbClr val="5E6673"/>
                </a:solidFill>
              </a:rPr>
              <a:t>0.0pt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37B340-86C2-4A1B-A5D8-07057B24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8290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1345AB-D800-4E8B-AA8D-31C07826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100% → 80%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F1AE1F-A066-448D-97F3-0225602C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</a:defRPr>
            </a:pPr>
            <a:r>
              <a:rPr sz="1725" b="1">
                <a:solidFill>
                  <a:srgbClr val="101216"/>
                </a:solidFill>
              </a:rPr>
              <a:t>紙教材鮮度でも</a:t>
            </a:r>
          </a:p>
          <a:p xmlns:a="http://schemas.openxmlformats.org/drawingml/2006/main">
            <a:pPr algn="l">
              <a:defRPr sz="1725" b="1">
                <a:solidFill>
                  <a:srgbClr val="101216"/>
                </a:solidFill>
              </a:defRPr>
            </a:pPr>
            <a:r>
              <a:rPr sz="1725" b="1">
                <a:solidFill>
                  <a:srgbClr val="101216"/>
                </a:solidFill>
              </a:rPr>
              <a:t>利得は +31.0pt → +19.9pt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9808EA-B39F-48D1-A0F9-6E3844BD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38550"/>
            <a:ext cx="382905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64C60D-4319-4C3E-9369-F89F5EE4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3"/>
                </a:solidFill>
              </a:defRPr>
            </a:pPr>
            <a:r>
              <a:rPr sz="1350" b="1">
                <a:solidFill>
                  <a:srgbClr val="5E6673"/>
                </a:solidFill>
              </a:rPr>
              <a:t>到達率が同じでも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CCAFC7-FA9A-4754-A01B-56EC0F5A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A887"/>
                </a:solidFill>
              </a:defRPr>
            </a:pPr>
            <a:r>
              <a:rPr sz="2400" b="1">
                <a:solidFill>
                  <a:srgbClr val="18A887"/>
                </a:solidFill>
              </a:rPr>
              <a:t>0.185 → 0.292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DB4E83-9EEF-403B-88BB-40D8EC68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</a:defRPr>
            </a:pPr>
            <a:r>
              <a:rPr sz="1200" b="0">
                <a:solidFill>
                  <a:srgbClr val="5E6673"/>
                </a:solidFill>
              </a:rPr>
              <a:t>電子50%時の下位20%平均</a:t>
            </a:r>
          </a:p>
          <a:p xmlns:a="http://schemas.openxmlformats.org/drawingml/2006/main">
            <a:pPr algn="l">
              <a:defRPr sz="1200" b="0">
                <a:solidFill>
                  <a:srgbClr val="5E6673"/>
                </a:solidFill>
              </a:defRPr>
            </a:pPr>
            <a:r>
              <a:rPr sz="1200" b="0">
                <a:solidFill>
                  <a:srgbClr val="5E6673"/>
                </a:solidFill>
              </a:rPr>
              <a:t>紙のみ → 紙＋電子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8D6BB7-0407-447A-AB60-73E72A32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</a:defRPr>
            </a:pPr>
            <a:r>
              <a:rPr sz="900" b="0">
                <a:solidFill>
                  <a:srgbClr val="5E6673"/>
                </a:solidFill>
              </a:rPr>
              <a:t>学習インフラ冗長性シミュレーター</a:t>
            </a:r>
          </a:p>
        </p:txBody>
      </p:sp>
    </p:spTree>
    <p:extLst>
      <p:ext uri="{BB962C8B-B14F-4D97-AF65-F5344CB8AC3E}">
        <p14:creationId xmlns:p14="http://schemas.microsoft.com/office/powerpoint/2010/main" val="58471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4537D5-8E53-4C80-949F-87B2BE87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MODEL / ROBUSTNESS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E1BDB-7962-4D97-B963-8C977964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</a:defRPr>
            </a:pPr>
            <a:r>
              <a:rPr sz="2850" b="1">
                <a:solidFill>
                  <a:srgbClr val="101216"/>
                </a:solidFill>
              </a:rPr>
              <a:t>学習者構成と成功閾値を変えても、方向は維持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18C94-B0CC-4BC9-87C7-571E8A32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631A4-319C-468D-8B64-2DA5F43C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A4593-8D29-42AE-85CD-6D6040E3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52197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C67B8-E1C5-4366-A5A8-569F992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</a:defRPr>
            </a:pPr>
            <a:r>
              <a:rPr sz="1650" b="1">
                <a:solidFill>
                  <a:srgbClr val="101216"/>
                </a:solidFill>
              </a:rPr>
              <a:t>社会構成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38580-EC7C-4432-AA3C-CCCCE41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</a:defRPr>
            </a:pPr>
            <a:r>
              <a:rPr sz="1275" b="1">
                <a:solidFill>
                  <a:srgbClr val="101216"/>
                </a:solidFill>
              </a:rPr>
              <a:t>紙型多数 60 / 20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78959-89C1-48C5-9F87-4406B7CF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</a:defRPr>
            </a:pPr>
            <a:r>
              <a:rPr sz="1200" b="0">
                <a:solidFill>
                  <a:srgbClr val="5E6673"/>
                </a:solidFill>
              </a:rPr>
              <a:t>紙 67.9%　電子 32.6%　併用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3AE6F-1FD5-4692-97EE-5CD47206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BFF"/>
                </a:solidFill>
              </a:defRPr>
            </a:pPr>
            <a:r>
              <a:rPr sz="2025" b="1">
                <a:solidFill>
                  <a:srgbClr val="2F6BFF"/>
                </a:solidFill>
              </a:rPr>
              <a:t>86.6%  (+18.7pt)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98F24-5D26-49BF-8B09-DADF8B85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2D0DB-98FD-4B14-972F-FFE3AA1D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</a:defRPr>
            </a:pPr>
            <a:r>
              <a:rPr sz="1275" b="1">
                <a:solidFill>
                  <a:srgbClr val="101216"/>
                </a:solidFill>
              </a:rPr>
              <a:t>電子型多数 20 / 60 / 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90BEB-98A7-4D04-8B9A-F31DEB4B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</a:defRPr>
            </a:pPr>
            <a:r>
              <a:rPr sz="1200" b="0">
                <a:solidFill>
                  <a:srgbClr val="5E6673"/>
                </a:solidFill>
              </a:rPr>
              <a:t>紙 32.6%　電子 68.0%　併用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FC111-AFAE-46AE-A817-839A8180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BFF"/>
                </a:solidFill>
              </a:defRPr>
            </a:pPr>
            <a:r>
              <a:rPr sz="2025" b="1">
                <a:solidFill>
                  <a:srgbClr val="2F6BFF"/>
                </a:solidFill>
              </a:rPr>
              <a:t>86.7%  (+18.8pt)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78FEA-32DE-43CC-92C9-1C4C3EC8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52197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A0D26-F869-4146-A3CD-84D19F92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</a:defRPr>
            </a:pPr>
            <a:r>
              <a:rPr sz="1650" b="1">
                <a:solidFill>
                  <a:srgbClr val="101216"/>
                </a:solidFill>
              </a:rPr>
              <a:t>成功閾値の感度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76364-41D6-4061-8498-5CCB3CBB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0.30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5C36B-37F2-4BF0-859F-DB22363B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2381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8545C-B7D1-48D1-AD69-2BBEE2E2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1932214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EF9B9-05AD-4C79-8B22-2D525690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+28.4pt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D56CA-EAFA-46D2-9B9F-147F0DF4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0.40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A873C2-82EF-4731-BF28-67AB3A29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2381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CCA81-8AEB-4DBA-B5CC-07D1D75E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2299607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E055D-5E51-4201-B54C-F4D83D41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33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+33.8pt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9ED6A-67CB-45F6-BA4D-193179CB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0.50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5328E-D36C-44AB-A23E-AACE7D71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2381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400575-8E51-4023-BEF6-22FDD3FD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2109107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9078E1-FCCB-4C50-B072-77A362ED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4671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+31.0pt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8534E0-118D-4F2C-B774-8080C489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0.60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24494E-25DB-4999-BA78-489DC507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2381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625C31-EE19-422E-9CE8-BBF30724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1619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0A085D-D0EC-4029-884C-9A208CB7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00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+23.8pt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8A53D3-D1D0-4B26-B0FE-F996B99F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52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0.70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756A1D-53AD-433A-B88B-0219690B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2381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4ECD69-C543-41DF-9A26-7ADE093A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1149804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E35CC1-BC77-4AF0-81CC-1C3CE271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339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+16.9pt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58C277-DA7B-4E11-9CAA-48CC412F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29300"/>
            <a:ext cx="7429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0D4215-3CCD-4D54-9021-C158CEB8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95975"/>
            <a:ext cx="697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216"/>
                </a:solidFill>
              </a:defRPr>
            </a:pPr>
            <a:r>
              <a:rPr sz="1275" b="1">
                <a:solidFill>
                  <a:srgbClr val="101216"/>
                </a:solidFill>
              </a:rPr>
              <a:t>異質な学習者 × 複数の機能する経路で、冗長性の価値が最も明確</a:t>
            </a:r>
          </a:p>
        </p:txBody>
      </p:sp>
    </p:spTree>
    <p:extLst>
      <p:ext uri="{BB962C8B-B14F-4D97-AF65-F5344CB8AC3E}">
        <p14:creationId xmlns:p14="http://schemas.microsoft.com/office/powerpoint/2010/main" val="885045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505092-69F9-4B15-954F-3E07F5F7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AGENT WORLD /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1ABE1-C230-48B0-8717-10DF2F98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</a:defRPr>
            </a:pPr>
            <a:r>
              <a:rPr sz="2850" b="1">
                <a:solidFill>
                  <a:srgbClr val="101216"/>
                </a:solidFill>
              </a:rPr>
              <a:t>LLM市民の『創発』は、対照実験で判定する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11E2F-96D8-4A1E-AEAE-DD37E097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FAE74-6BDF-407D-892F-63CA2B8F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5A00A-2309-4737-96F9-BD8E1F71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5717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6E64A-6D2D-436D-AA55-4B49EFEA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FULL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FDA72-60B9-45D7-AFA2-CA4D774B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228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</a:defRPr>
            </a:pPr>
            <a:r>
              <a:rPr sz="1650" b="1">
                <a:solidFill>
                  <a:srgbClr val="101216"/>
                </a:solidFill>
              </a:rPr>
              <a:t>相互作用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</a:defRPr>
            </a:pPr>
            <a:r>
              <a:rPr sz="1650" b="1">
                <a:solidFill>
                  <a:srgbClr val="101216"/>
                </a:solidFill>
              </a:rPr>
              <a:t>＋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6019B-5AB1-4C3B-8E21-9470D531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57350"/>
            <a:ext cx="25717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11846-8888-439D-AA7C-841FD8BA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97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E6673"/>
                </a:solidFill>
              </a:defRPr>
            </a:pPr>
            <a:r>
              <a:rPr sz="1125" b="1">
                <a:solidFill>
                  <a:srgbClr val="5E6673"/>
                </a:solidFill>
              </a:rPr>
              <a:t>NO-INTERACTION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12409-01FD-4A81-BB91-A55D53B4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71700"/>
            <a:ext cx="2228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</a:defRPr>
            </a:pPr>
            <a:r>
              <a:rPr sz="1650" b="1">
                <a:solidFill>
                  <a:srgbClr val="101216"/>
                </a:solidFill>
              </a:rPr>
              <a:t>情報交換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</a:defRPr>
            </a:pPr>
            <a:r>
              <a:rPr sz="1650" b="1">
                <a:solidFill>
                  <a:srgbClr val="101216"/>
                </a:solidFill>
              </a:rPr>
              <a:t>なし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B27FC-65D7-4200-B951-C2248FB8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5717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4011D-4BEE-49FB-9DCE-25A6D620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E6673"/>
                </a:solidFill>
              </a:defRPr>
            </a:pPr>
            <a:r>
              <a:rPr sz="1125" b="1">
                <a:solidFill>
                  <a:srgbClr val="5E6673"/>
                </a:solidFill>
              </a:rPr>
              <a:t>NO-MEMORY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C69EE-1049-4627-9AB9-692A34B5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2228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</a:defRPr>
            </a:pPr>
            <a:r>
              <a:rPr sz="1650" b="1">
                <a:solidFill>
                  <a:srgbClr val="101216"/>
                </a:solidFill>
              </a:rPr>
              <a:t>履歴利用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</a:defRPr>
            </a:pPr>
            <a:r>
              <a:rPr sz="1650" b="1">
                <a:solidFill>
                  <a:srgbClr val="101216"/>
                </a:solidFill>
              </a:rPr>
              <a:t>なし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2085C-9492-4851-8DEE-F447DE0B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57350"/>
            <a:ext cx="25717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FF6F0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D7E35-A5F1-4A7B-BCB9-FF20AFDA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A887"/>
                </a:solidFill>
              </a:defRPr>
            </a:pPr>
            <a:r>
              <a:rPr sz="1125" b="1">
                <a:solidFill>
                  <a:srgbClr val="18A887"/>
                </a:solidFill>
              </a:rPr>
              <a:t>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42483-E8D6-4056-8B67-5C438034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2228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</a:defRPr>
            </a:pPr>
            <a:r>
              <a:rPr sz="1650" b="1">
                <a:solidFill>
                  <a:srgbClr val="101216"/>
                </a:solidFill>
              </a:rPr>
              <a:t>LLMなし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</a:defRPr>
            </a:pPr>
            <a:r>
              <a:rPr sz="1650" b="1">
                <a:solidFill>
                  <a:srgbClr val="101216"/>
                </a:solidFill>
              </a:rPr>
              <a:t>固定規則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D460A-6315-4FF4-8407-8F4340F2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4857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870A3-9CFD-48A5-8ACF-91176146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216"/>
                </a:solidFill>
              </a:defRPr>
            </a:pPr>
            <a:r>
              <a:rPr sz="1575" b="1">
                <a:solidFill>
                  <a:srgbClr val="101216"/>
                </a:solidFill>
              </a:rPr>
              <a:t>パイロット構成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37AE0-B527-490C-B6ED-EF56D1A7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5CCF6-343E-4C92-8747-3C6AA4CB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</a:defRPr>
            </a:pPr>
            <a:r>
              <a:rPr sz="1275" b="0">
                <a:solidFill>
                  <a:srgbClr val="101216"/>
                </a:solidFill>
              </a:rPr>
              <a:t>Ollama 0.32.14 / qwen3.5:9b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7103A-9ECB-4814-AE26-F2092988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2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ABD01-80CB-491B-8668-D03B6CE1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</a:defRPr>
            </a:pPr>
            <a:r>
              <a:rPr sz="1275" b="0">
                <a:solidFill>
                  <a:srgbClr val="101216"/>
                </a:solidFill>
              </a:rPr>
              <a:t>合成市民8人 × 12 ticks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161524-112F-4B30-BD70-8A81416F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3462D-64C5-454B-85D9-F3CE81DD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</a:defRPr>
            </a:pPr>
            <a:r>
              <a:rPr sz="1275" b="0">
                <a:solidFill>
                  <a:srgbClr val="101216"/>
                </a:solidFill>
              </a:rPr>
              <a:t>各条件3 run / 約864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05B17-B685-4B9C-893F-DEAA0296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9950"/>
            <a:ext cx="60579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D724F-D2CD-40D9-9852-71AC741D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00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216"/>
                </a:solidFill>
              </a:defRPr>
            </a:pPr>
            <a:r>
              <a:rPr sz="1575" b="1">
                <a:solidFill>
                  <a:srgbClr val="101216"/>
                </a:solidFill>
              </a:rPr>
              <a:t>Primary判定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5B93B3-173D-4227-B718-CBEAB457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71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1085E7-5F8E-43FD-A620-D4310DD1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1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7B3FC-DE8D-4F84-B877-5A946DE0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86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低水準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128E0A-D5EB-44B2-95B0-28A28369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62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79EF36-D96F-41D4-A7DA-56F6A318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171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9D9E91-7003-4CB8-BE09-3EA86259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21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D9CB4B-1381-4F2F-A583-CB305169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86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上昇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B365D0-17FC-4965-A3FE-72F99BD7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362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4E59D8-B9E6-48A7-BA0E-BBD46A5E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D7AAEF-9764-4534-9ED9-1323E5A7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1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06D700-95B1-4CB5-AE31-2706A7A1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86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継続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14F79A-A3E6-4C6D-B34D-0852240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9E1EB7-5DF0-40CF-B089-6150668B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71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E18079-BC62-4BF5-9829-0C945E28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21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4BE18A-781B-42A2-A010-CF9A29BE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686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216"/>
                </a:solidFill>
              </a:defRPr>
            </a:pPr>
            <a:r>
              <a:rPr sz="1200" b="1">
                <a:solidFill>
                  <a:srgbClr val="101216"/>
                </a:solidFill>
              </a:rPr>
              <a:t>対照差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72C320-21CF-4785-96DC-F655209E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19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C4C"/>
                </a:solidFill>
              </a:defRPr>
            </a:pPr>
            <a:r>
              <a:rPr sz="1200" b="1">
                <a:solidFill>
                  <a:srgbClr val="D94C4C"/>
                </a:solidFill>
              </a:rPr>
              <a:t>印象的な1 traceだけでは創発と判定しない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DA5F9E-996D-4CD7-8265-2B3B098A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</a:defRPr>
            </a:pPr>
            <a:r>
              <a:rPr sz="900" b="0">
                <a:solidFill>
                  <a:srgbClr val="5E6673"/>
                </a:solidFill>
              </a:rPr>
              <a:t>学習インフラ冗長性シミュレーター</a:t>
            </a:r>
          </a:p>
        </p:txBody>
      </p:sp>
    </p:spTree>
    <p:extLst>
      <p:ext uri="{BB962C8B-B14F-4D97-AF65-F5344CB8AC3E}">
        <p14:creationId xmlns:p14="http://schemas.microsoft.com/office/powerpoint/2010/main" val="3303437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622C52-D5DE-4C95-9A0B-DBB3B62F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AGENT /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A5A70-6EEE-40C9-AC17-20AC7B54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</a:defRPr>
            </a:pPr>
            <a:r>
              <a:rPr sz="2850" b="1">
                <a:solidFill>
                  <a:srgbClr val="101216"/>
                </a:solidFill>
              </a:rPr>
              <a:t>パイロットでは、創発は確認されなかった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D6B53-EFF2-4EEB-9275-B7F8D568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D26F3-FAF2-4A1E-8047-B1BA27AB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F1A74-0847-4AE9-8D23-B9007A91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4095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CE9E9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7E72E-1D08-4FDC-A6F8-08EF7130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360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4C4C"/>
                </a:solidFill>
              </a:defRPr>
            </a:pPr>
            <a:r>
              <a:rPr sz="3000" b="1">
                <a:solidFill>
                  <a:srgbClr val="D94C4C"/>
                </a:solidFill>
              </a:rPr>
              <a:t>創発未確認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A5640-9411-4519-BB3A-9A5419A4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3600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216"/>
                </a:solidFill>
              </a:defRPr>
            </a:pPr>
            <a:r>
              <a:rPr sz="1575" b="1">
                <a:solidFill>
                  <a:srgbClr val="101216"/>
                </a:solidFill>
              </a:rPr>
              <a:t>Full cascade  0 / 3</a:t>
            </a:r>
          </a:p>
          <a:p xmlns:a="http://schemas.openxmlformats.org/drawingml/2006/main">
            <a:pPr algn="ctr">
              <a:defRPr sz="1575" b="1">
                <a:solidFill>
                  <a:srgbClr val="101216"/>
                </a:solidFill>
              </a:defRPr>
            </a:pPr>
            <a:r>
              <a:rPr sz="1575" b="1">
                <a:solidFill>
                  <a:srgbClr val="101216"/>
                </a:solidFill>
              </a:rPr>
              <a:t>対照差  0.0pt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1AD43-9771-4792-BC63-4FEC7ACD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57350"/>
            <a:ext cx="67818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4A9D3-E1B0-45C3-AB29-644FC133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216"/>
                </a:solidFill>
              </a:defRPr>
            </a:pPr>
            <a:r>
              <a:rPr sz="1425" b="1">
                <a:solidFill>
                  <a:srgbClr val="101216"/>
                </a:solidFill>
              </a:rPr>
              <a:t>12 tick平均学習機会率（探索的）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F25EB-8E6B-4FC2-AB57-79A3ED15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24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Full 93.4%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50846-06A4-4920-BC02-933BC2D9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24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6"/>
                </a:solidFill>
              </a:defRPr>
            </a:pPr>
            <a:r>
              <a:rPr sz="1350" b="1">
                <a:solidFill>
                  <a:srgbClr val="101216"/>
                </a:solidFill>
              </a:rPr>
              <a:t>相互作用なし 89.6%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D35DA-7A74-4686-80F5-DF675369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6"/>
                </a:solidFill>
              </a:defRPr>
            </a:pPr>
            <a:r>
              <a:rPr sz="1350" b="1">
                <a:solidFill>
                  <a:srgbClr val="101216"/>
                </a:solidFill>
              </a:rPr>
              <a:t>記憶なし 75.7%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75538-3FEB-4E10-8299-9675AEBC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887"/>
                </a:solidFill>
              </a:defRPr>
            </a:pPr>
            <a:r>
              <a:rPr sz="1350" b="1">
                <a:solidFill>
                  <a:srgbClr val="18A887"/>
                </a:solidFill>
              </a:rPr>
              <a:t>Rule 96.5%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60F45-BD1D-4F2B-80D5-9E27F07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521970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F9A27-44D1-4027-AF9C-DEAE8086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</a:defRPr>
            </a:pPr>
            <a:r>
              <a:rPr sz="1500" b="1">
                <a:solidFill>
                  <a:srgbClr val="101216"/>
                </a:solidFill>
              </a:rPr>
              <a:t>読み取れること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CC5E1-BDAD-4E27-8375-72AA096E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CA20C-399E-465E-8C6D-DB170954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</a:defRPr>
            </a:pPr>
            <a:r>
              <a:rPr sz="1275" b="0">
                <a:solidFill>
                  <a:srgbClr val="101216"/>
                </a:solidFill>
              </a:rPr>
              <a:t>相互作用・memoryとの記述差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87D68-EB21-4BAE-934D-6DADD2B1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4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9A385-3A8E-400A-B326-CCDCF50E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</a:defRPr>
            </a:pPr>
            <a:r>
              <a:rPr sz="1275" b="0">
                <a:solidFill>
                  <a:srgbClr val="101216"/>
                </a:solidFill>
              </a:rPr>
              <a:t>ただしRuleがFullを3.1pt上回る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C5E6B-B07F-4F1A-A656-25ED0D82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97FA53-1AF6-41E0-9835-537BE358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</a:defRPr>
            </a:pPr>
            <a:r>
              <a:rPr sz="1275" b="0">
                <a:solidFill>
                  <a:srgbClr val="101216"/>
                </a:solidFill>
              </a:rPr>
              <a:t>Primary失敗をsecondaryで救済しない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72B99-756B-4381-9B13-1C69D7EE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567690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420E6-4A0E-4377-8E1F-7A15D759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5214"/>
                </a:solidFill>
              </a:defRPr>
            </a:pPr>
            <a:r>
              <a:rPr sz="1500" b="1">
                <a:solidFill>
                  <a:srgbClr val="7A5214"/>
                </a:solidFill>
              </a:rPr>
              <a:t>完全性の注意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4FEDFD-C467-4B65-AC0C-6D654AAF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461C"/>
                </a:solidFill>
              </a:defRPr>
            </a:pPr>
            <a:r>
              <a:rPr sz="1275" b="1">
                <a:solidFill>
                  <a:srgbClr val="5D461C"/>
                </a:solidFill>
              </a:rPr>
              <a:t>n=3の探索的pilot。scenarioと検出器が不整合。</a:t>
            </a:r>
          </a:p>
          <a:p xmlns:a="http://schemas.openxmlformats.org/drawingml/2006/main">
            <a:pPr algn="l">
              <a:defRPr sz="1275" b="1">
                <a:solidFill>
                  <a:srgbClr val="5D461C"/>
                </a:solidFill>
              </a:defRPr>
            </a:pPr>
            <a:r>
              <a:rPr sz="1275" b="1">
                <a:solidFill>
                  <a:srgbClr val="5D461C"/>
                </a:solidFill>
              </a:rPr>
              <a:t>実施後にseed/provenance等を修正したため、</a:t>
            </a:r>
          </a:p>
          <a:p xmlns:a="http://schemas.openxmlformats.org/drawingml/2006/main">
            <a:pPr algn="l">
              <a:defRPr sz="1275" b="1">
                <a:solidFill>
                  <a:srgbClr val="5D461C"/>
                </a:solidFill>
              </a:defRPr>
            </a:pPr>
            <a:r>
              <a:rPr sz="1275" b="1">
                <a:solidFill>
                  <a:srgbClr val="5D461C"/>
                </a:solidFill>
              </a:rPr>
              <a:t>現行実装で再実行するまで確認的証拠にしない。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19B9B8-09AD-495F-A733-6272B376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</a:defRPr>
            </a:pPr>
            <a:r>
              <a:rPr sz="900" b="0">
                <a:solidFill>
                  <a:srgbClr val="5E6673"/>
                </a:solidFill>
              </a:rPr>
              <a:t>学習インフラ冗長性シミュレーター</a:t>
            </a:r>
          </a:p>
        </p:txBody>
      </p:sp>
    </p:spTree>
    <p:extLst>
      <p:ext uri="{BB962C8B-B14F-4D97-AF65-F5344CB8AC3E}">
        <p14:creationId xmlns:p14="http://schemas.microsoft.com/office/powerpoint/2010/main" val="5476219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1B8C77-8C39-46CE-B46D-54D055B7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57228-B481-44ED-86E0-DA7ED77C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</a:defRPr>
            </a:pPr>
            <a:r>
              <a:rPr sz="2850" b="1">
                <a:solidFill>
                  <a:srgbClr val="101216"/>
                </a:solidFill>
              </a:rPr>
              <a:t>到達点と次の検証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7FDCD-F5BB-40E6-B5D1-495AA1B2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7A4AF-4BD8-485B-9E2C-638BE0D7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2C689-CCA8-4590-9EBC-E5710D95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5219700" cy="33909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B6EB5-0275-443C-8E66-98EB8811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分かったこと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96F94-6001-46E1-8826-2284F222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20805-BBAE-495A-95CE-B9D4CED9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</a:defRPr>
            </a:pPr>
            <a:r>
              <a:rPr sz="1275" b="0">
                <a:solidFill>
                  <a:srgbClr val="101216"/>
                </a:solidFill>
              </a:rPr>
              <a:t>両経路が機能し、学習者が異質なとき冗長性が効く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32E07-3778-4119-99D5-4A07CB58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34681-C04B-43BC-AC27-1F3FF9E2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</a:defRPr>
            </a:pPr>
            <a:r>
              <a:rPr sz="1275" b="0">
                <a:solidFill>
                  <a:srgbClr val="101216"/>
                </a:solidFill>
              </a:rPr>
              <a:t>一方が閾値未満なら到達率の追加効果は消える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D5EA0-22E5-472B-9571-32F757DA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CE42B-230D-4F3B-BBE3-196042C6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</a:defRPr>
            </a:pPr>
            <a:r>
              <a:rPr sz="1275" b="0">
                <a:solidFill>
                  <a:srgbClr val="101216"/>
                </a:solidFill>
              </a:rPr>
              <a:t>LLM市民の創発は現時点で未確認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C045B-878B-4EA1-A716-412164C4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5219700" cy="33909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CDB1A-2522-4339-AD06-6329A768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A887"/>
                </a:solidFill>
              </a:defRPr>
            </a:pPr>
            <a:r>
              <a:rPr sz="1800" b="1">
                <a:solidFill>
                  <a:srgbClr val="18A887"/>
                </a:solidFill>
              </a:rPr>
              <a:t>次に行うこと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91771-4783-4E7E-8F03-A90FC6BE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62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00D65-58BD-4AE4-B3BD-C2FBB85A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</a:defRPr>
            </a:pPr>
            <a:r>
              <a:rPr sz="1275" b="0">
                <a:solidFill>
                  <a:srgbClr val="101216"/>
                </a:solidFill>
              </a:rPr>
              <a:t>model・prompt・seed・閾値・除外規則を凍結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62E3B-65BE-4FF0-9D9D-64CE1E9C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C19C8-03BC-4E39-8576-E57D91BE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670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</a:defRPr>
            </a:pPr>
            <a:r>
              <a:rPr sz="1275" b="0">
                <a:solidFill>
                  <a:srgbClr val="101216"/>
                </a:solidFill>
              </a:rPr>
              <a:t>現行実装でpilotを再実行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B9A6A-E6EF-424A-A62D-E2F8E03F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2BD0F-B54B-47FA-A7C5-AB3C8664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576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6"/>
                </a:solidFill>
              </a:defRPr>
            </a:pPr>
            <a:r>
              <a:rPr sz="1275" b="0">
                <a:solidFill>
                  <a:srgbClr val="101216"/>
                </a:solidFill>
              </a:rPr>
              <a:t>独立confirmatory runと頑健性確認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94136-9655-4ECB-B0A8-59FC147F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0D1B5-7408-4B0A-BCA9-2CF3B3ED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GitHub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0EF1F-39CA-4A38-8394-B5489627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E24F3-A22B-4FE5-BD4C-05CAAFEB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721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README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C087CB-38ED-4374-95B7-FDC93C6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530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329C98-2E6A-423D-95BD-C27FBF4C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721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RESULTS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AC20DE-B29C-4B25-92A5-96CD0712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3530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80E249-F476-4800-AB11-A5D0EB6E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721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PPTX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A3A9E5-E17B-429F-BEEF-6A003FAF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5305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4A8596-B54C-44C5-9F65-BFE6C2F6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721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A887"/>
                </a:solidFill>
              </a:defRPr>
            </a:pPr>
            <a:r>
              <a:rPr sz="1125" b="1">
                <a:solidFill>
                  <a:srgbClr val="18A887"/>
                </a:solidFill>
              </a:rPr>
              <a:t>Sites / Model v1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EE8310-B0D3-460F-9815-0AB2FA71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353050"/>
            <a:ext cx="1695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700538-0C3A-4D6B-8DA3-96F5C0A0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721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E6673"/>
                </a:solidFill>
              </a:defRPr>
            </a:pPr>
            <a:r>
              <a:rPr sz="1125" b="1">
                <a:solidFill>
                  <a:srgbClr val="5E6673"/>
                </a:solidFill>
              </a:rPr>
              <a:t>Ollama / Local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15E58-EE3F-46EC-8A9C-B093D917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11633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101216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166743-3377-4879-B23D-59F644F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29325"/>
            <a:ext cx="1070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答えを断定する装置ではなく、冗長性が意味を持つ条件と主張の境界を可視化する実験基盤。</a:t>
            </a:r>
          </a:p>
        </p:txBody>
      </p:sp>
    </p:spTree>
    <p:extLst>
      <p:ext uri="{BB962C8B-B14F-4D97-AF65-F5344CB8AC3E}">
        <p14:creationId xmlns:p14="http://schemas.microsoft.com/office/powerpoint/2010/main" val="667119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2026-08-22T20:49:35.6970000Z</dcterms:created>
  <dcterms:modified xsi:type="dcterms:W3CDTF">2026-08-22T20:49:35.6970000Z</dcterms:modified>
</coreProperties>
</file>